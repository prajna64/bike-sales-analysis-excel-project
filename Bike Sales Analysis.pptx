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5" r:id="rId6"/>
    <p:sldId id="266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jna C" userId="73f8fda82f1342e5" providerId="LiveId" clId="{870CCB9B-80DA-4F52-9C6C-519A098644A4}"/>
    <pc:docChg chg="undo custSel delSld modSld">
      <pc:chgData name="Prajna C" userId="73f8fda82f1342e5" providerId="LiveId" clId="{870CCB9B-80DA-4F52-9C6C-519A098644A4}" dt="2025-11-19T11:00:53.763" v="64" actId="2696"/>
      <pc:docMkLst>
        <pc:docMk/>
      </pc:docMkLst>
      <pc:sldChg chg="modSp mod">
        <pc:chgData name="Prajna C" userId="73f8fda82f1342e5" providerId="LiveId" clId="{870CCB9B-80DA-4F52-9C6C-519A098644A4}" dt="2025-11-18T10:28:46.265" v="63" actId="20577"/>
        <pc:sldMkLst>
          <pc:docMk/>
          <pc:sldMk cId="1736215997" sldId="256"/>
        </pc:sldMkLst>
        <pc:spChg chg="mod">
          <ac:chgData name="Prajna C" userId="73f8fda82f1342e5" providerId="LiveId" clId="{870CCB9B-80DA-4F52-9C6C-519A098644A4}" dt="2025-11-18T10:28:21.007" v="37" actId="207"/>
          <ac:spMkLst>
            <pc:docMk/>
            <pc:sldMk cId="1736215997" sldId="256"/>
            <ac:spMk id="2" creationId="{C2595EEF-45DE-ECD6-510B-99CA27548AAD}"/>
          </ac:spMkLst>
        </pc:spChg>
        <pc:spChg chg="mod">
          <ac:chgData name="Prajna C" userId="73f8fda82f1342e5" providerId="LiveId" clId="{870CCB9B-80DA-4F52-9C6C-519A098644A4}" dt="2025-11-18T10:28:46.265" v="63" actId="20577"/>
          <ac:spMkLst>
            <pc:docMk/>
            <pc:sldMk cId="1736215997" sldId="256"/>
            <ac:spMk id="3" creationId="{4E0B9E8E-0FB3-9905-4434-8078CB9C062C}"/>
          </ac:spMkLst>
        </pc:spChg>
      </pc:sldChg>
      <pc:sldChg chg="del">
        <pc:chgData name="Prajna C" userId="73f8fda82f1342e5" providerId="LiveId" clId="{870CCB9B-80DA-4F52-9C6C-519A098644A4}" dt="2025-11-19T11:00:53.763" v="64" actId="2696"/>
        <pc:sldMkLst>
          <pc:docMk/>
          <pc:sldMk cId="2780064850" sldId="26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3F8FDA82F1342E5/Documents/Bike%20dekho-PRAJNA%20C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3F8FDA82F1342E5/Documents/Bike%20dekho-PRAJNA%20C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dekho-PRAJNA C.xlsx]EDA!PivotTable8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Sales by Education and Occupation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layout>
            <c:manualLayout>
              <c:x val="-7.3165216314418718E-2"/>
              <c:y val="8.3915344614551052E-2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layout>
            <c:manualLayout>
              <c:x val="-3.2846142240914818E-2"/>
              <c:y val="-7.1005291596927866E-2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layout>
            <c:manualLayout>
              <c:x val="-5.4569781289138898E-2"/>
              <c:y val="-8.3915344614551052E-2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layout>
            <c:manualLayout>
              <c:x val="-6.0131032885484263E-2"/>
              <c:y val="-5.8095238579304605E-2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layout>
            <c:manualLayout>
              <c:x val="-3.2846142240914818E-2"/>
              <c:y val="-9.0370371123362728E-2"/>
            </c:manualLayout>
          </c:layout>
          <c:dLblPos val="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square"/>
          <c:size val="5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triangle"/>
          <c:size val="5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x"/>
          <c:size val="5"/>
          <c:spPr>
            <a:noFill/>
            <a:ln w="9525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star"/>
          <c:size val="5"/>
          <c:spPr>
            <a:noFill/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8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EDA!$J$78:$J$79</c:f>
              <c:strCache>
                <c:ptCount val="1"/>
                <c:pt idx="0">
                  <c:v>Clerical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EDA!$I$80:$I$85</c:f>
              <c:strCache>
                <c:ptCount val="5"/>
                <c:pt idx="0">
                  <c:v>Bachelors</c:v>
                </c:pt>
                <c:pt idx="1">
                  <c:v>Graduate Degree</c:v>
                </c:pt>
                <c:pt idx="2">
                  <c:v>High School</c:v>
                </c:pt>
                <c:pt idx="3">
                  <c:v>Partial College</c:v>
                </c:pt>
                <c:pt idx="4">
                  <c:v>Partial High School</c:v>
                </c:pt>
              </c:strCache>
            </c:strRef>
          </c:cat>
          <c:val>
            <c:numRef>
              <c:f>EDA!$J$80:$J$85</c:f>
              <c:numCache>
                <c:formatCode>General</c:formatCode>
                <c:ptCount val="5"/>
                <c:pt idx="0">
                  <c:v>34</c:v>
                </c:pt>
                <c:pt idx="1">
                  <c:v>18</c:v>
                </c:pt>
                <c:pt idx="2">
                  <c:v>2</c:v>
                </c:pt>
                <c:pt idx="3">
                  <c:v>31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A4-4D13-A60E-16DA18A6ECD3}"/>
            </c:ext>
          </c:extLst>
        </c:ser>
        <c:ser>
          <c:idx val="1"/>
          <c:order val="1"/>
          <c:tx>
            <c:strRef>
              <c:f>EDA!$K$78:$K$79</c:f>
              <c:strCache>
                <c:ptCount val="1"/>
                <c:pt idx="0">
                  <c:v>Management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EDA!$I$80:$I$85</c:f>
              <c:strCache>
                <c:ptCount val="5"/>
                <c:pt idx="0">
                  <c:v>Bachelors</c:v>
                </c:pt>
                <c:pt idx="1">
                  <c:v>Graduate Degree</c:v>
                </c:pt>
                <c:pt idx="2">
                  <c:v>High School</c:v>
                </c:pt>
                <c:pt idx="3">
                  <c:v>Partial College</c:v>
                </c:pt>
                <c:pt idx="4">
                  <c:v>Partial High School</c:v>
                </c:pt>
              </c:strCache>
            </c:strRef>
          </c:cat>
          <c:val>
            <c:numRef>
              <c:f>EDA!$K$80:$K$85</c:f>
              <c:numCache>
                <c:formatCode>General</c:formatCode>
                <c:ptCount val="5"/>
                <c:pt idx="0">
                  <c:v>40</c:v>
                </c:pt>
                <c:pt idx="1">
                  <c:v>25</c:v>
                </c:pt>
                <c:pt idx="2">
                  <c:v>6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A4-4D13-A60E-16DA18A6ECD3}"/>
            </c:ext>
          </c:extLst>
        </c:ser>
        <c:ser>
          <c:idx val="2"/>
          <c:order val="2"/>
          <c:tx>
            <c:strRef>
              <c:f>EDA!$L$78:$L$79</c:f>
              <c:strCache>
                <c:ptCount val="1"/>
                <c:pt idx="0">
                  <c:v>Manual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EDA!$I$80:$I$85</c:f>
              <c:strCache>
                <c:ptCount val="5"/>
                <c:pt idx="0">
                  <c:v>Bachelors</c:v>
                </c:pt>
                <c:pt idx="1">
                  <c:v>Graduate Degree</c:v>
                </c:pt>
                <c:pt idx="2">
                  <c:v>High School</c:v>
                </c:pt>
                <c:pt idx="3">
                  <c:v>Partial College</c:v>
                </c:pt>
                <c:pt idx="4">
                  <c:v>Partial High School</c:v>
                </c:pt>
              </c:strCache>
            </c:strRef>
          </c:cat>
          <c:val>
            <c:numRef>
              <c:f>EDA!$L$80:$L$85</c:f>
              <c:numCache>
                <c:formatCode>General</c:formatCode>
                <c:ptCount val="5"/>
                <c:pt idx="1">
                  <c:v>2</c:v>
                </c:pt>
                <c:pt idx="2">
                  <c:v>22</c:v>
                </c:pt>
                <c:pt idx="3">
                  <c:v>22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EA4-4D13-A60E-16DA18A6ECD3}"/>
            </c:ext>
          </c:extLst>
        </c:ser>
        <c:ser>
          <c:idx val="3"/>
          <c:order val="3"/>
          <c:tx>
            <c:strRef>
              <c:f>EDA!$M$78:$M$79</c:f>
              <c:strCache>
                <c:ptCount val="1"/>
                <c:pt idx="0">
                  <c:v>Professional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EDA!$I$80:$I$85</c:f>
              <c:strCache>
                <c:ptCount val="5"/>
                <c:pt idx="0">
                  <c:v>Bachelors</c:v>
                </c:pt>
                <c:pt idx="1">
                  <c:v>Graduate Degree</c:v>
                </c:pt>
                <c:pt idx="2">
                  <c:v>High School</c:v>
                </c:pt>
                <c:pt idx="3">
                  <c:v>Partial College</c:v>
                </c:pt>
                <c:pt idx="4">
                  <c:v>Partial High School</c:v>
                </c:pt>
              </c:strCache>
            </c:strRef>
          </c:cat>
          <c:val>
            <c:numRef>
              <c:f>EDA!$M$80:$M$85</c:f>
              <c:numCache>
                <c:formatCode>General</c:formatCode>
                <c:ptCount val="5"/>
                <c:pt idx="0">
                  <c:v>55</c:v>
                </c:pt>
                <c:pt idx="1">
                  <c:v>32</c:v>
                </c:pt>
                <c:pt idx="2">
                  <c:v>25</c:v>
                </c:pt>
                <c:pt idx="3">
                  <c:v>34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EA4-4D13-A60E-16DA18A6ECD3}"/>
            </c:ext>
          </c:extLst>
        </c:ser>
        <c:ser>
          <c:idx val="4"/>
          <c:order val="4"/>
          <c:tx>
            <c:strRef>
              <c:f>EDA!$N$78:$N$79</c:f>
              <c:strCache>
                <c:ptCount val="1"/>
                <c:pt idx="0">
                  <c:v>Skilled Manual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EDA!$I$80:$I$85</c:f>
              <c:strCache>
                <c:ptCount val="5"/>
                <c:pt idx="0">
                  <c:v>Bachelors</c:v>
                </c:pt>
                <c:pt idx="1">
                  <c:v>Graduate Degree</c:v>
                </c:pt>
                <c:pt idx="2">
                  <c:v>High School</c:v>
                </c:pt>
                <c:pt idx="3">
                  <c:v>Partial College</c:v>
                </c:pt>
                <c:pt idx="4">
                  <c:v>Partial High School</c:v>
                </c:pt>
              </c:strCache>
            </c:strRef>
          </c:cat>
          <c:val>
            <c:numRef>
              <c:f>EDA!$N$80:$N$85</c:f>
              <c:numCache>
                <c:formatCode>General</c:formatCode>
                <c:ptCount val="5"/>
                <c:pt idx="0">
                  <c:v>40</c:v>
                </c:pt>
                <c:pt idx="1">
                  <c:v>17</c:v>
                </c:pt>
                <c:pt idx="2">
                  <c:v>24</c:v>
                </c:pt>
                <c:pt idx="3">
                  <c:v>30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A4-4D13-A60E-16DA18A6EC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451773151"/>
        <c:axId val="451776991"/>
      </c:barChart>
      <c:catAx>
        <c:axId val="4517731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1776991"/>
        <c:crosses val="autoZero"/>
        <c:auto val="1"/>
        <c:lblAlgn val="ctr"/>
        <c:lblOffset val="100"/>
        <c:noMultiLvlLbl val="0"/>
      </c:catAx>
      <c:valAx>
        <c:axId val="4517769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1773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 dekho-PRAJNA C.xlsx]EDA!PivotTable2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Sales by Marital Status and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layout>
            <c:manualLayout>
              <c:x val="3.6775448636782262E-3"/>
              <c:y val="-4.6709190419393365E-3"/>
            </c:manualLayout>
          </c:layout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layout>
            <c:manualLayout>
              <c:x val="1.2035930429380243E-2"/>
              <c:y val="-1.4375029193244868E-3"/>
            </c:manualLayout>
          </c:layout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5.4828850694837478E-2"/>
                  <c:h val="6.9993905737911408E-2"/>
                </c:manualLayout>
              </c15:layout>
            </c:ext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square"/>
          <c:size val="5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3676973097369911E-3"/>
              <c:y val="8.926216038793663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1.2668996006423343E-2"/>
              <c:y val="8.926216038793663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0042954477251056E-2"/>
              <c:y val="-2.38032427701165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2.3032644100521662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0042954477251056E-2"/>
              <c:y val="-2.38032427701165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3676973097369911E-3"/>
              <c:y val="8.926216038793663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1.2668996006423343E-2"/>
              <c:y val="8.926216038793663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2.3032644100521662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0042954477251056E-2"/>
              <c:y val="-2.380324277011654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3676973097369911E-3"/>
              <c:y val="8.926216038793663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1.2668996006423343E-2"/>
              <c:y val="8.9262160387936634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2.3032644100521662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EDA!$F$6:$F$7</c:f>
              <c:strCache>
                <c:ptCount val="1"/>
                <c:pt idx="0">
                  <c:v>Female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1.0042954477251056E-2"/>
                  <c:y val="-2.380324277011654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7FA-4791-A456-9DAF730D7AF8}"/>
                </c:ext>
              </c:extLst>
            </c:dLbl>
            <c:dLbl>
              <c:idx val="1"/>
              <c:layout>
                <c:manualLayout>
                  <c:x val="-3.3676973097369911E-3"/>
                  <c:y val="8.926216038793663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FA-4791-A456-9DAF730D7A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EDA!$E$8:$E$10</c:f>
              <c:strCache>
                <c:ptCount val="2"/>
                <c:pt idx="0">
                  <c:v>Married</c:v>
                </c:pt>
                <c:pt idx="1">
                  <c:v>Single</c:v>
                </c:pt>
              </c:strCache>
            </c:strRef>
          </c:cat>
          <c:val>
            <c:numRef>
              <c:f>EDA!$F$8:$F$10</c:f>
              <c:numCache>
                <c:formatCode>General</c:formatCode>
                <c:ptCount val="2"/>
                <c:pt idx="0">
                  <c:v>108</c:v>
                </c:pt>
                <c:pt idx="1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FA-4791-A456-9DAF730D7AF8}"/>
            </c:ext>
          </c:extLst>
        </c:ser>
        <c:ser>
          <c:idx val="1"/>
          <c:order val="1"/>
          <c:tx>
            <c:strRef>
              <c:f>EDA!$G$6:$G$7</c:f>
              <c:strCache>
                <c:ptCount val="1"/>
                <c:pt idx="0">
                  <c:v>Male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1.2668996006423343E-2"/>
                  <c:y val="8.926216038793663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FA-4791-A456-9DAF730D7AF8}"/>
                </c:ext>
              </c:extLst>
            </c:dLbl>
            <c:dLbl>
              <c:idx val="1"/>
              <c:layout>
                <c:manualLayout>
                  <c:x val="2.303264410052166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7FA-4791-A456-9DAF730D7A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EDA!$E$8:$E$10</c:f>
              <c:strCache>
                <c:ptCount val="2"/>
                <c:pt idx="0">
                  <c:v>Married</c:v>
                </c:pt>
                <c:pt idx="1">
                  <c:v>Single</c:v>
                </c:pt>
              </c:strCache>
            </c:strRef>
          </c:cat>
          <c:val>
            <c:numRef>
              <c:f>EDA!$G$8:$G$10</c:f>
              <c:numCache>
                <c:formatCode>General</c:formatCode>
                <c:ptCount val="2"/>
                <c:pt idx="0">
                  <c:v>123</c:v>
                </c:pt>
                <c:pt idx="1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FA-4791-A456-9DAF730D7AF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736150944"/>
        <c:axId val="1736149024"/>
      </c:barChart>
      <c:catAx>
        <c:axId val="1736150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736149024"/>
        <c:crosses val="autoZero"/>
        <c:auto val="1"/>
        <c:lblAlgn val="ctr"/>
        <c:lblOffset val="100"/>
        <c:noMultiLvlLbl val="0"/>
      </c:catAx>
      <c:valAx>
        <c:axId val="17361490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36150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33BEB-9D61-4767-9EA0-CB249796F3B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F35E8-A1D3-4E15-8663-1ED6472AE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2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4F35E8-A1D3-4E15-8663-1ED6472AE1C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836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1041-10F9-3FD6-980A-05EFFFC6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66084-EF17-80B7-BDC7-4DC29DFF5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B2DF8-8FC7-06A9-0622-71DEBD92C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0305A-3F49-91B0-B497-F1439F4EC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B28C7-29BF-3EFE-7A0F-3BFF8B8AD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5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DDF29-B3E9-BF47-A0BB-80C28FF77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6588F-BA8F-D4D6-69FB-395851CDC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41372-F3E4-6477-88BB-D25558414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B0C22-B7A2-924E-4EDC-5DA38A21A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70599-5C58-1AC5-5889-00231241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24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64F34-989F-5D61-CDCF-1577B5E6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157B4-9B9E-6DCB-3905-9D228F4C7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06E19-D09F-AE85-AEC2-E3E9D6AD5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DC279-447A-8AB2-155A-5E9872B4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8C4BA-91BA-9D2F-21F9-F62DFAA6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647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EC67-C6D6-FDDD-5DC3-679FDED5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15CA1-40CA-2353-DA4B-44930CD58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7413D-0B35-39B8-8F51-B308A8015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73122-4DA5-43F8-1B1A-E93E3BE4E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FF610-4420-28CE-A45A-CA27A2FFD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C7A8C-1865-D12B-A475-B804CCCC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21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F70A1-C233-B65A-73F0-31419573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EC1C3-CBC4-DE59-2157-E18695B33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97DC1-A9AB-4E86-66BF-A080A1FCE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D7E80B-FCF5-2EA7-B5D2-202AD67A6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5F06B-6D3B-6322-A05A-C91483556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B8F534-F509-02BC-6F2D-92740D83D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F58B40-2475-D5DE-A3B2-33C9838F9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9778A7-6B07-FF14-427D-29E899A3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9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2CA0-C535-8BE0-D4E4-D87BC6E4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1EBCA-32AF-7260-70F9-A66EA30C6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5ABB0-69E4-820C-C335-FE24FD5A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03ECC-0F0C-037C-64BE-19502DEE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83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6EE0E-B84C-1513-7B67-70EF5D389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CC34B6-C417-0027-C9DB-55A68FF6C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32DEF-79F5-722A-1DAC-774FC3F6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39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B107-DC60-EE76-3F08-742048F0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C0D25-356E-9BD3-B3BC-493B85A3C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251A5-B245-E83B-960C-30651202A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71294-CEFD-F47E-1E1A-E1E95336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BC2BF-3F8C-4A58-F2BB-DE106DF36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6346B-D111-22E8-8164-80999721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24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58A98-2A80-CC01-3693-190E5110C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CDEDF-FC1C-2464-16E8-AA678D6C1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901C4-8192-605A-DC1C-8A42414D1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98631-EA6A-FD2E-F9D4-0D3DF018F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B8554-18E0-9E6A-7E8C-E70073D8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A1CFA-9148-5B66-0D58-F50EB9E5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62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8ADC-1B2E-724C-4E40-72DC6AC5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1A983-6D94-F128-EF41-EF487F741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87B16-13FE-EA9C-9721-D088A7477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71FCD-2C02-ECB2-E1FC-0A8634D4D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8006C-4FD4-F247-5B20-054A36DFA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9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99A8C4-282A-5108-0BA1-7F0689BC0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D56B6-855C-3E4A-5A10-7F31B59E9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EC8A-37F5-160D-022D-78C85A864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CF089-6B28-DE4D-48EB-887F0FB1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4A1A2-CF83-B93C-131D-62CDC139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275D57-4703-02DE-9959-09BF0A4D5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89E3A-A823-09AA-A0DD-F1AAE9E95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04DEA-1F26-B5E2-5C86-A55F9BDC1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CBD24-6102-444B-AB7D-324D2072CA0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F5985-26CE-750E-A883-7851C4403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2E7F0-C91B-A5E0-B6BA-DAF995E4B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69FA1-E0C4-4FDD-A27D-EAADE4363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11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95EEF-45DE-ECD6-510B-99CA27548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644" y="1140543"/>
            <a:ext cx="11769214" cy="1720644"/>
          </a:xfrm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Calibri BOLDT(Headings)"/>
              </a:rPr>
              <a:t>BIKE DEKHO-BIKE SALES ANALYSIS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  <a:latin typeface="Calibri BOLDT(Headings)"/>
              </a:rPr>
            </a:br>
            <a:r>
              <a:rPr lang="en-IN" sz="3600" dirty="0">
                <a:latin typeface="Calibri BOLDT(Headings)"/>
              </a:rPr>
              <a:t>Internship Project-1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B9E8E-0FB3-9905-4434-8078CB9C0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2323" y="3785419"/>
            <a:ext cx="9045677" cy="2231923"/>
          </a:xfrm>
        </p:spPr>
        <p:txBody>
          <a:bodyPr>
            <a:normAutofit/>
          </a:bodyPr>
          <a:lstStyle/>
          <a:p>
            <a:pPr lvl="3" algn="l"/>
            <a:r>
              <a:rPr lang="en-IN" sz="4600" dirty="0">
                <a:latin typeface="Calibri  (Body)"/>
              </a:rPr>
              <a:t>PRESENTED TO  : LABMENTX</a:t>
            </a:r>
          </a:p>
          <a:p>
            <a:pPr lvl="5" algn="l"/>
            <a:endParaRPr lang="en-IN" sz="2800" dirty="0"/>
          </a:p>
          <a:p>
            <a:pPr lvl="4" algn="l"/>
            <a:r>
              <a:rPr lang="en-IN" sz="3400" dirty="0"/>
              <a:t>           NAME : PRAJNA C</a:t>
            </a:r>
          </a:p>
          <a:p>
            <a:pPr lvl="4" algn="l"/>
            <a:r>
              <a:rPr lang="en-IN" sz="3400" dirty="0"/>
              <a:t>           Date : 23-11-2025</a:t>
            </a:r>
          </a:p>
          <a:p>
            <a:pPr lvl="4" algn="l"/>
            <a:endParaRPr lang="en-IN" sz="3400" dirty="0"/>
          </a:p>
        </p:txBody>
      </p:sp>
    </p:spTree>
    <p:extLst>
      <p:ext uri="{BB962C8B-B14F-4D97-AF65-F5344CB8AC3E}">
        <p14:creationId xmlns:p14="http://schemas.microsoft.com/office/powerpoint/2010/main" val="1736215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D182-47ED-A232-4B08-E5859C6F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746"/>
          </a:xfrm>
        </p:spPr>
        <p:txBody>
          <a:bodyPr>
            <a:normAutofit/>
          </a:bodyPr>
          <a:lstStyle/>
          <a:p>
            <a:r>
              <a:rPr lang="en-IN" b="1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70AC0-946A-8478-2876-681E652D5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872"/>
            <a:ext cx="10515600" cy="4997091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Objective</a:t>
            </a:r>
            <a:r>
              <a:rPr lang="en-IN" dirty="0"/>
              <a:t>: Analyse bike sales data to extract actionable business insights.</a:t>
            </a:r>
          </a:p>
          <a:p>
            <a:r>
              <a:rPr lang="en-IN" b="1" dirty="0"/>
              <a:t>Dataset</a:t>
            </a:r>
            <a:r>
              <a:rPr lang="en-IN" dirty="0"/>
              <a:t>: Bike Dekho dataset containing customer demographics and purchase behaviour.</a:t>
            </a:r>
          </a:p>
          <a:p>
            <a:r>
              <a:rPr lang="en-IN" b="1" dirty="0"/>
              <a:t>Importance</a:t>
            </a:r>
            <a:r>
              <a:rPr lang="en-IN" dirty="0"/>
              <a:t>: Understanding buyer profiles and regional trends helps target marketing and sales strategies effectively.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u="sng" dirty="0"/>
              <a:t>Dataset Overview</a:t>
            </a:r>
          </a:p>
          <a:p>
            <a:r>
              <a:rPr lang="en-US" dirty="0"/>
              <a:t>Dataset contains 1028 records and 13 attributes.</a:t>
            </a:r>
          </a:p>
          <a:p>
            <a:r>
              <a:rPr lang="en-US" dirty="0"/>
              <a:t>Key attributes: Customer ID, Gender, Income, Education, Marital Status, Home Ownership, Purchased Bike, Region, Age, Children, Occupation, Cars, Commute distance</a:t>
            </a:r>
          </a:p>
          <a:p>
            <a:r>
              <a:rPr lang="en-US" dirty="0"/>
              <a:t>Data ranges across multiple demographics and geographic regions.</a:t>
            </a:r>
          </a:p>
          <a:p>
            <a:endParaRPr lang="en-IN" b="1" u="sng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783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96BFE-20C0-D087-0166-FCD2218D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2" y="365125"/>
            <a:ext cx="10822858" cy="922901"/>
          </a:xfrm>
        </p:spPr>
        <p:txBody>
          <a:bodyPr anchor="t"/>
          <a:lstStyle/>
          <a:p>
            <a:r>
              <a:rPr lang="en-IN" b="1" u="sng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E1E4E-3B5C-C0CD-C081-50204B549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7" y="1288026"/>
            <a:ext cx="10714703" cy="5204849"/>
          </a:xfrm>
        </p:spPr>
        <p:txBody>
          <a:bodyPr>
            <a:normAutofit/>
          </a:bodyPr>
          <a:lstStyle/>
          <a:p>
            <a:r>
              <a:rPr lang="en-US" dirty="0"/>
              <a:t>Handled missing and inconsistent values.</a:t>
            </a:r>
          </a:p>
          <a:p>
            <a:r>
              <a:rPr lang="en-US" dirty="0"/>
              <a:t>Converted income values to numeric format.</a:t>
            </a:r>
          </a:p>
          <a:p>
            <a:r>
              <a:rPr lang="en-US" dirty="0"/>
              <a:t>Created derived columns: Age Bracket (Adolescent, Middle Age, Old), Income Bracket (Low, Medium, High).</a:t>
            </a:r>
          </a:p>
          <a:p>
            <a:r>
              <a:rPr lang="en-US" dirty="0"/>
              <a:t>Confirm columns are standardized: full words instead of codes (“Married” / “Single” instead of “M/S”, “Male/Female” instead of “M/F”).</a:t>
            </a:r>
          </a:p>
          <a:p>
            <a:r>
              <a:rPr lang="en-US" dirty="0"/>
              <a:t>Removed duplicates and validated data consistency.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0477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00F8-E02B-3824-62C1-E95BD1C17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727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b="1" u="sng" dirty="0"/>
              <a:t>Exploratory Data Analysis (EDA) Setup</a:t>
            </a:r>
            <a:br>
              <a:rPr lang="en-US" dirty="0"/>
            </a:br>
            <a:br>
              <a:rPr lang="en-US" dirty="0"/>
            </a:b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BA4ED-940B-4871-7EBF-9AEB1B2C0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482011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Created pivot tables to analyze sales distribution: by Gender, Age, Region, Occupation, Education, Marital Status.</a:t>
            </a:r>
          </a:p>
          <a:p>
            <a:r>
              <a:rPr lang="en-US" dirty="0"/>
              <a:t>Calculated key performance indicators (KPIs): total buyers, average income, percentage of buyers by gender and home ownership.</a:t>
            </a:r>
          </a:p>
          <a:p>
            <a:r>
              <a:rPr lang="en-US" dirty="0"/>
              <a:t>Applied formulas for enhanced insights.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Key Findings from EDA</a:t>
            </a:r>
          </a:p>
          <a:p>
            <a:r>
              <a:rPr lang="en-US" dirty="0"/>
              <a:t>Formulas are used to calculate the summary statistics without pivot table.</a:t>
            </a:r>
          </a:p>
          <a:p>
            <a:r>
              <a:rPr lang="en-US" dirty="0"/>
              <a:t>Majority of bike buyers are Male.</a:t>
            </a:r>
          </a:p>
          <a:p>
            <a:r>
              <a:rPr lang="en-US" dirty="0"/>
              <a:t>Sales concentrated in North America.</a:t>
            </a:r>
          </a:p>
          <a:p>
            <a:r>
              <a:rPr lang="en-US" dirty="0"/>
              <a:t>Average income of buyers is 57962.58</a:t>
            </a:r>
          </a:p>
          <a:p>
            <a:r>
              <a:rPr lang="en-US" dirty="0"/>
              <a:t>Homeownership positively correlates with purchasing a bike.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414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FB05-4254-D709-C35D-22FF1C1B7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062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b="1" u="sng" dirty="0"/>
              <a:t>Visualizations in EDA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30BF8-FC12-6E78-E2DF-08D311E36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188"/>
            <a:ext cx="10515600" cy="5299586"/>
          </a:xfrm>
        </p:spPr>
        <p:txBody>
          <a:bodyPr/>
          <a:lstStyle/>
          <a:p>
            <a:r>
              <a:rPr lang="en-US" dirty="0"/>
              <a:t>Bar charts highlighting buyers by Gender and Income.</a:t>
            </a:r>
          </a:p>
          <a:p>
            <a:r>
              <a:rPr lang="en-US" dirty="0"/>
              <a:t>Pie charts representing Age Bracket distribution among buyers.</a:t>
            </a:r>
          </a:p>
          <a:p>
            <a:r>
              <a:rPr lang="en-US" dirty="0"/>
              <a:t>Other visuals for Occupation and Education breakdowns.</a:t>
            </a:r>
          </a:p>
          <a:p>
            <a:r>
              <a:rPr lang="en-US" dirty="0"/>
              <a:t>These charts help in quick understanding of data patterns.</a:t>
            </a:r>
          </a:p>
          <a:p>
            <a:endParaRPr lang="en-IN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CAA23DE-85B8-4393-C7A9-65F2F8880F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4596232"/>
              </p:ext>
            </p:extLst>
          </p:nvPr>
        </p:nvGraphicFramePr>
        <p:xfrm>
          <a:off x="619035" y="3429000"/>
          <a:ext cx="5476965" cy="3063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F531A8B-4817-88F5-EC85-D25ABCEEA7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7787241"/>
              </p:ext>
            </p:extLst>
          </p:nvPr>
        </p:nvGraphicFramePr>
        <p:xfrm>
          <a:off x="6558115" y="3429000"/>
          <a:ext cx="5014849" cy="3063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860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890D7-5B72-DF48-B54A-687E117C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b="1" u="sng" dirty="0"/>
              <a:t>Dashboard Design and Layout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A96D9-79F7-22F2-86CB-799ED1408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Consolidated key pivot tables and charts into a dashboard sheet.</a:t>
            </a:r>
          </a:p>
          <a:p>
            <a:r>
              <a:rPr lang="en-US" dirty="0"/>
              <a:t>Dashboard includes interactive features: slicers for Gender, Region, Education and Occupation.</a:t>
            </a:r>
          </a:p>
          <a:p>
            <a:endParaRPr lang="en-IN" dirty="0"/>
          </a:p>
        </p:txBody>
      </p:sp>
      <p:pic>
        <p:nvPicPr>
          <p:cNvPr id="15" name="Picture 1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76FF498-AB3B-AF7C-4D51-3402D84D0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206" y="3215421"/>
            <a:ext cx="9871587" cy="338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27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7385F8-3E66-EA0D-E078-BECD9B40C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EE6DE-5291-04AE-DF57-795CC356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Project successfully delivered end-to-end data cleaning, analysis, and dashboard solution.</a:t>
            </a:r>
          </a:p>
          <a:p>
            <a:r>
              <a:rPr lang="en-US" dirty="0"/>
              <a:t>Valuable insights extracted to aid marketing and sales.</a:t>
            </a:r>
          </a:p>
          <a:p>
            <a:r>
              <a:rPr lang="en-US" dirty="0"/>
              <a:t>Dashboard enables efficient data exploration and business decisions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167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8A866-3013-5DB0-544C-87A789B7E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457"/>
            <a:ext cx="10515600" cy="6272982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17381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420</Words>
  <Application>Microsoft Office PowerPoint</Application>
  <PresentationFormat>Widescreen</PresentationFormat>
  <Paragraphs>51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 (Body)</vt:lpstr>
      <vt:lpstr>Calibri BOLDT(Headings)</vt:lpstr>
      <vt:lpstr>Calibri Light</vt:lpstr>
      <vt:lpstr>Times New Roman</vt:lpstr>
      <vt:lpstr>Office Theme</vt:lpstr>
      <vt:lpstr>BIKE DEKHO-BIKE SALES ANALYSIS Internship Project-1</vt:lpstr>
      <vt:lpstr>Introduction</vt:lpstr>
      <vt:lpstr>Data Cleaning</vt:lpstr>
      <vt:lpstr>  Exploratory Data Analysis (EDA) Setup  </vt:lpstr>
      <vt:lpstr> Visualizations in EDA </vt:lpstr>
      <vt:lpstr> Dashboard Design and Layout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 C</dc:creator>
  <cp:lastModifiedBy>Prajna C</cp:lastModifiedBy>
  <cp:revision>3</cp:revision>
  <dcterms:created xsi:type="dcterms:W3CDTF">2025-10-08T09:06:32Z</dcterms:created>
  <dcterms:modified xsi:type="dcterms:W3CDTF">2025-11-19T11:01:02Z</dcterms:modified>
</cp:coreProperties>
</file>